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D4AA"/>
                </a:solidFill>
                <a:latin typeface="Calibri"/>
              </a:defRPr>
            </a:pPr>
            <a:r>
              <a:t>ARSENALE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Calibri"/>
              </a:defRPr>
            </a:pPr>
            <a:r>
              <a:t>Secure Remote Access Management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56616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8B8"/>
                </a:solidFill>
                <a:latin typeface="Calibri"/>
              </a:defRPr>
            </a:pPr>
            <a:r>
              <a:t>SSH  •  RDP  •  VNC  •  Zero Trust  •  Encrypted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8B8"/>
                </a:solidFill>
                <a:latin typeface="Calibri"/>
              </a:defRPr>
            </a:pPr>
            <a:r>
              <a:t>Investor Pitch  •  March 2026  •  v1.3.2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A0A8B8"/>
                </a:solidFill>
                <a:latin typeface="Calibri"/>
              </a:rPr>
              <a:t>⚠️  Enterprises manage 10,000+ remote endpoints — SSH, RDP, VNC spread across cloud, on-prem, and edge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A0A8B8"/>
                </a:solidFill>
                <a:latin typeface="Calibri"/>
              </a:rPr>
              <a:t>🔒  Credentials are scattered in spreadsheets, password managers not built for infrastructure access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A0A8B8"/>
                </a:solidFill>
                <a:latin typeface="Calibri"/>
              </a:rPr>
              <a:t>🛡️  Compliance mandates (SOC 2, ISO 27001, GDPR) require session recording, audit trails, MFA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A0A8B8"/>
                </a:solidFill>
                <a:latin typeface="Calibri"/>
              </a:rPr>
              <a:t>🌐  Teams need secure access from anywhere — VPNs are slow, complex, and create flat network risk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700">
                <a:solidFill>
                  <a:srgbClr val="A0A8B8"/>
                </a:solidFill>
                <a:latin typeface="Calibri"/>
              </a:rPr>
              <a:t>💸  Existing solutions (CyberArk, BeyondTrust) cost $100K+/year and take months to deploy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Arsenale: One platform for all remote infrastructure access — secure, audited, zero-trust.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34747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🌐 Multi-Protocol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SSH, RDP, VNC from the browser.</a:t>
            </a:r>
            <a:br/>
            <a:r>
              <a:t>No client software required.</a:t>
            </a:r>
            <a:br/>
            <a:r>
              <a:t>XTerm.js + Guacamole rendering.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4747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🔒 Encrypted Vault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AES-256-GCM encryption at rest.</a:t>
            </a:r>
            <a:br/>
            <a:r>
              <a:t>Argon2id key derivation.</a:t>
            </a:r>
            <a:br/>
            <a:r>
              <a:t>Zero-knowledge architecture.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286000"/>
            <a:ext cx="3474720" cy="201168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🛡️ Zero Trust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Outbound-only tunnel agents.</a:t>
            </a:r>
            <a:br/>
            <a:r>
              <a:t>No open inbound ports needed.</a:t>
            </a:r>
            <a:br/>
            <a:r>
              <a:t>Binary multiplexed protocol.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57200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👥 Multi-Tenant RBAC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7 tenant roles, 3 team roles.</a:t>
            </a:r>
            <a:br/>
            <a:r>
              <a:t>ABAC policies: time windows,</a:t>
            </a:r>
            <a:br/>
            <a:r>
              <a:t>trusted device, MFA step-up.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457200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📹 Session Recording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SSH (asciicast) + RDP/VNC</a:t>
            </a:r>
            <a:br/>
            <a:r>
              <a:t>(Guacamole format).</a:t>
            </a:r>
            <a:br/>
            <a:r>
              <a:t>Video export with guacenc.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572000"/>
            <a:ext cx="34747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🔍 Audit &amp; Anomaly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100+ tracked actions.</a:t>
            </a:r>
            <a:br/>
            <a:r>
              <a:t>GeoIP + impossible travel.</a:t>
            </a:r>
            <a:br/>
            <a:r>
              <a:t>DLP enforcement.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PRODUCT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Core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371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Web-based SSH/RDP/VNC  •  Encrypted credential vault  •  Connection folders &amp; favorites  •  Import/export  •  SFTP file browser  •  Tab-based workspace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57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AES-256-GCM vault  •  JWT + refresh tokens  •  TOTP/SMS/WebAuthn MFA  •  IP allowlisting  •  DLP policies  •  Impossible travel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Identity &amp; 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7432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Google/Microsoft/GitHub OAuth  •  Any OIDC provider  •  SAML 2.0  •  LDAP  •  Auto-provisioning  •  Account linking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3429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Gateway orchestration (Docker/Podman/K8s)  •  Zero-trust tunnels  •  SSH bastion  •  Auto-scaling  •  Health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4114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Multi-tenant with RBAC  •  Team secrets  •  Session recording + video export  •  Audit logs  •  HashiCorp Vault  •  NetBox sync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00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AA"/>
                </a:solidFill>
                <a:latin typeface="Calibri"/>
              </a:defRPr>
            </a:pPr>
            <a:r>
              <a:t>Ecosystem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006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8B8"/>
                </a:solidFill>
                <a:latin typeface="Calibri"/>
              </a:defRPr>
            </a:pPr>
            <a:r>
              <a:t>Chrome extension  •  PWA  •  6 themes  •  CLI tool  •  REST API  •  WebSocket real-time events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20040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CLIENT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React 19 + Vite</a:t>
            </a:r>
            <a:br/>
            <a:r>
              <a:t>MUI v7 + Zustand (15 stores)</a:t>
            </a:r>
            <a:br/>
            <a:r>
              <a:t>XTerm.js + Guacamole</a:t>
            </a:r>
            <a:br/>
            <a:r>
              <a:t>PWA + Service Worker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93192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SERVER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Express + TypeScript</a:t>
            </a:r>
            <a:br/>
            <a:r>
              <a:t>Socket.IO (SSH, Notifications)</a:t>
            </a:r>
            <a:br/>
            <a:r>
              <a:t>Guacamole WS (RDP/VNC)</a:t>
            </a:r>
            <a:br/>
            <a:r>
              <a:t>Tunnel Broker (Zero-Trust)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371600"/>
            <a:ext cx="3200400" cy="164592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DATA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PostgreSQL 16</a:t>
            </a:r>
            <a:br/>
            <a:r>
              <a:t>Prisma ORM (32 models)</a:t>
            </a:r>
            <a:br/>
            <a:r>
              <a:t>AES-256-GCM Encryption</a:t>
            </a:r>
            <a:br/>
            <a:r>
              <a:t>Argon2id Key Derivation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474720"/>
            <a:ext cx="3200400" cy="1371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GATEWAYS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guacd (RDP/VNC)</a:t>
            </a:r>
            <a:br/>
            <a:r>
              <a:t>SSH Bastion</a:t>
            </a:r>
            <a:br/>
            <a:r>
              <a:t>guacenc (Recordings)</a:t>
            </a:r>
            <a:br/>
            <a:r>
              <a:t>Tunnel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0" y="3474720"/>
            <a:ext cx="3931920" cy="1371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INTEGRATIONS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OAuth/SAML/LDAP SSO</a:t>
            </a:r>
            <a:br/>
            <a:r>
              <a:t>HashiCorp Vault</a:t>
            </a:r>
            <a:br/>
            <a:r>
              <a:t>NetBox Sync</a:t>
            </a:r>
            <a:br/>
            <a:r>
              <a:t>SMTP/SES/SendGrid/Twilio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474720"/>
            <a:ext cx="3200400" cy="1371600"/>
          </a:xfrm>
          <a:prstGeom prst="roundRect">
            <a:avLst/>
          </a:prstGeom>
          <a:solidFill>
            <a:srgbClr val="1A243B"/>
          </a:solidFill>
          <a:ln w="190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ctr">
              <a:spcAft>
                <a:spcPts val="400"/>
              </a:spcAft>
              <a:defRPr sz="1300" b="1">
                <a:solidFill>
                  <a:srgbClr val="00D4AA"/>
                </a:solidFill>
                <a:latin typeface="Calibri"/>
              </a:defRPr>
            </a:pPr>
            <a:r>
              <a:t>EXTENSION</a:t>
            </a:r>
          </a:p>
          <a:p>
            <a:pPr>
              <a:defRPr sz="1000">
                <a:solidFill>
                  <a:srgbClr val="A0A8B8"/>
                </a:solidFill>
                <a:latin typeface="Calibri"/>
              </a:defRPr>
            </a:pPr>
            <a:r>
              <a:t>Chrome Manifest V3</a:t>
            </a:r>
            <a:br/>
            <a:r>
              <a:t>Credential Autofill</a:t>
            </a:r>
            <a:br/>
            <a:r>
              <a:t>Multi-Account</a:t>
            </a:r>
            <a:br/>
            <a:r>
              <a:t>AES-GCM Token 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8B8"/>
                </a:solidFill>
                <a:latin typeface="Calibri"/>
              </a:defRPr>
            </a:pPr>
            <a:r>
              <a:t>Tech Stack: Node.js 22  •  TypeScript  •  React 19  •  PostgreSQL 16  •  Docker/Podman/Kubernetes  •  Nginx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AA"/>
                </a:solidFill>
                <a:latin typeface="Calibri"/>
              </a:defRPr>
            </a:pPr>
            <a:r>
              <a:t>31 REST API routes  •  3 WebSocket namespaces  •  12+ background jobs  •  100+ audit action types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3035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📊 Privileged Access Management (PAM)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Market size: $3.8B (2025) → $12.9B (2030)</a:t>
            </a:r>
            <a:br/>
            <a:r>
              <a:t>CAGR: 27.6%</a:t>
            </a:r>
            <a:br/>
            <a:r>
              <a:t>Drivers: Remote work, cloud, compliance mandates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03520" cy="182880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🎯 Remote Access as a Service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Subset of PAM focused on session-based access</a:t>
            </a:r>
            <a:br/>
            <a:r>
              <a:t>Adjacent: ZTNA ($7B+), IAM ($24B)</a:t>
            </a:r>
            <a:br/>
            <a:r>
              <a:t>Convergence trend: PAM + ZTNA +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1480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CyberArk / BeyondTrust / Delinea — Enterprise PAM ($100K+/yr, 6+ month deploy)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Teleport / StrongDM / Boundary — Modern PAM (cloud-first, developer-oriented)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Apache Guacamole — Open-source remote desktop gateway (no vault, no RBAC, no audit)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Arsenale advantage: Full-stack PAM + Zero-Trust + Vault in a single self-hosted platform at 10x lower cost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BUSINESS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4747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📦 Community</a:t>
            </a:r>
            <a:br/>
            <a:r>
              <a:t>(BSL / Free)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Self-hosted, single tenant</a:t>
            </a:r>
            <a:br/>
            <a:r>
              <a:t>SSH + RDP + VNC</a:t>
            </a:r>
            <a:br/>
            <a:r>
              <a:t>Encrypted vault</a:t>
            </a:r>
            <a:br/>
            <a:r>
              <a:t>Basic audit logs</a:t>
            </a:r>
            <a:br/>
            <a:r>
              <a:t>Community support</a:t>
            </a:r>
            <a:br/>
            <a:br/>
            <a:r>
              <a:t>Convert date: 4 years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4747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🏢 Business</a:t>
            </a:r>
            <a:br/>
            <a:r>
              <a:t>($15/user/mo)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Multi-tenant RBAC</a:t>
            </a:r>
            <a:br/>
            <a:r>
              <a:t>Session recording</a:t>
            </a:r>
            <a:br/>
            <a:r>
              <a:t>SSO (SAML, OIDC, LDAP)</a:t>
            </a:r>
            <a:br/>
            <a:r>
              <a:t>Gateway orchestration</a:t>
            </a:r>
            <a:br/>
            <a:r>
              <a:t>Priority support</a:t>
            </a:r>
            <a:br/>
            <a:r>
              <a:t>SLA: 99.9%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474720" cy="25603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🏠 Enterprise</a:t>
            </a:r>
            <a:br/>
            <a:r>
              <a:t>(Custom)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Zero-trust tunnels</a:t>
            </a:r>
            <a:br/>
            <a:r>
              <a:t>HashiCorp Vault integration</a:t>
            </a:r>
            <a:br/>
            <a:r>
              <a:t>ABAC policies</a:t>
            </a:r>
            <a:br/>
            <a:r>
              <a:t>Managed cloud option</a:t>
            </a:r>
            <a:br/>
            <a:r>
              <a:t>Dedicated support</a:t>
            </a:r>
            <a:br/>
            <a:r>
              <a:t>Custom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Revenue Streams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75488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💰  SaaS subscriptions (per-user, per-tenant)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🛠️  Professional services (deployment, migration, training)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📦  Managed hosting (fully managed Arsenale cloud)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500">
                <a:solidFill>
                  <a:srgbClr val="A0A8B8"/>
                </a:solidFill>
                <a:latin typeface="Calibri"/>
              </a:rPr>
              <a:t>📄  OEM licensing (white-label for MSPs and ISVs)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TRACTION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Current Status (v1.3.2)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Full multi-protocol support (SSH, RDP, VNC)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AES-256-GCM encrypted vault with Argon2id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Multi-tenant RBAC (7 roles) + Teams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MFA: TOTP, SMS, WebAuthn/FIDO2 passkeys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SSO: Google, Microsoft, GitHub, OIDC, SAML, LDAP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Session recording with video export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Gateway orchestration (Docker/Podman/K8s)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Zero-trust tunnel system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Chrome extension + PWA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300">
                <a:solidFill>
                  <a:srgbClr val="A0A8B8"/>
                </a:solidFill>
                <a:latin typeface="Calibri"/>
              </a:rPr>
              <a:t>✅  HashiCorp Vault + NetBox integrations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Q2 2026  —  Managed cloud launch (SaaS)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Q3 2026  —  SOC 2 Type II certification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Q3 2026  —  Firefox extension + mobile PWA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Q4 2026  —  AI-powered anomaly detection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Q1 2027  —  Kubernetes operator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Q1 2027  —  Database session recording (SQL)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Q2 2027  —  FedRAMP readiness</a:t>
            </a:r>
          </a:p>
          <a:p>
            <a:pPr>
              <a:spcBef>
                <a:spcPts val="400"/>
              </a:spcBef>
              <a:spcAft>
                <a:spcPts val="800"/>
              </a:spcAft>
            </a:pPr>
            <a:r>
              <a:rPr sz="1400">
                <a:solidFill>
                  <a:srgbClr val="A0A8B8"/>
                </a:solidFill>
                <a:latin typeface="Calibri"/>
              </a:rPr>
              <a:t>Q2 2027  —  MSP white-label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D4AA"/>
                </a:solidFill>
                <a:latin typeface="Calibri"/>
              </a:defRPr>
            </a:pPr>
            <a: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🔒 Encryption at Rest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AES-256-GCM for all credentials, secrets, TOTP seeds. Per-user master key derived via Argon2id. Zero-knowledge — server never stores plaintext.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🔐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JWT access tokens (15 min) + refresh tokens (DB, family tracking). Token binding (IP + User-Agent hash). Automatic refresh on 401.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🛡️ Multi-Factor 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TOTP (any authenticator), SMS (Twilio/SNS/Vonage), WebAuthn/FIDO2 hardware keys and passkeys. MFA step-up for sensitive 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03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👥 Access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7 tenant roles (OWNER→GUEST) + 3 team roles. ABAC policies: time windows, trusted device requirements, per-connection DLP.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📊 Audit &amp;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448055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100+ tracked action types. GeoIP enrichment. Impossible travel detection (&gt;900 km/h). IP allowlist (flag or block mode).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2577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Calibri"/>
              </a:defRPr>
            </a:pPr>
            <a:r>
              <a:t>🌐 Zero-Trust 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525779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8B8"/>
                </a:solidFill>
                <a:latin typeface="Calibri"/>
              </a:defRPr>
            </a:pPr>
            <a:r>
              <a:t>Outbound-only tunnel agents. No inbound ports. Binary multiplexed protocol with stream-level isolation. Heartbeat health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D4AA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645920"/>
            <a:ext cx="210312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Seed Round — Building the Future of Secure Remote Access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017520"/>
            <a:ext cx="2926080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💰 Use of Funds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Engineering team (60%)</a:t>
            </a:r>
            <a:br/>
            <a:r>
              <a:t>Security certifications (15%)</a:t>
            </a:r>
            <a:br/>
            <a:r>
              <a:t>Go-to-market (15%)</a:t>
            </a:r>
            <a:br/>
            <a:r>
              <a:t>Infra &amp; operations (10%)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017520"/>
            <a:ext cx="2926080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🎯 Key Metrics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Time to deploy: &lt; 1 hour</a:t>
            </a:r>
            <a:br/>
            <a:r>
              <a:t>Cost vs incumbents: 10x less</a:t>
            </a:r>
            <a:br/>
            <a:r>
              <a:t>Protocols: SSH + RDP + VNC</a:t>
            </a:r>
            <a:br/>
            <a:r>
              <a:t>Compliance: SOC 2 ready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3017520"/>
            <a:ext cx="2926080" cy="1645920"/>
          </a:xfrm>
          <a:prstGeom prst="roundRect">
            <a:avLst/>
          </a:prstGeom>
          <a:solidFill>
            <a:srgbClr val="1A243B"/>
          </a:solidFill>
          <a:ln w="12700">
            <a:solidFill>
              <a:srgbClr val="2A3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sz="1600" b="1">
                <a:solidFill>
                  <a:srgbClr val="00D4AA"/>
                </a:solidFill>
                <a:latin typeface="Calibri"/>
              </a:defRPr>
            </a:pPr>
            <a:r>
              <a:t>🚀 Why Now?</a:t>
            </a:r>
          </a:p>
          <a:p>
            <a:pPr>
              <a:defRPr sz="1200">
                <a:solidFill>
                  <a:srgbClr val="A0A8B8"/>
                </a:solidFill>
                <a:latin typeface="Calibri"/>
              </a:defRPr>
            </a:pPr>
            <a:r>
              <a:t>Remote work is permanent</a:t>
            </a:r>
            <a:br/>
            <a:r>
              <a:t>Zero-trust mandates growing</a:t>
            </a:r>
            <a:br/>
            <a:r>
              <a:t>PAM market CAGR 27.6%</a:t>
            </a:r>
            <a:br/>
            <a:r>
              <a:t>Incumbents overpriced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8B8"/>
                </a:solidFill>
                <a:latin typeface="Calibri"/>
              </a:defRPr>
            </a:pPr>
            <a:r>
              <a:t>arsenale  •  github.com/dnviti/arsenale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D4AA"/>
                </a:solidFill>
                <a:latin typeface="Calibri"/>
              </a:defRPr>
            </a:pPr>
            <a:r>
              <a:t>Open-source core  •  Self-hosted  •  Enterprise-ready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